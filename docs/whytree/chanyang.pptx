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700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F6B4F"/>
                </a:solidFill>
                <a:latin typeface="Pretendard"/>
              </a:rPr>
              <a:t>WhyTree — 모두의 지원금 (MOJI)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1249" y="50800"/>
            <a:ext cx="9525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이름 또는 별명</a:t>
            </a:r>
          </a:p>
        </p:txBody>
      </p:sp>
      <p:sp>
        <p:nvSpPr>
          <p:cNvPr id="4" name="입력: 이름 또는 별명"/>
          <p:cNvSpPr/>
          <p:nvPr/>
        </p:nvSpPr>
        <p:spPr>
          <a:xfrm>
            <a:off x="8413749" y="0"/>
            <a:ext cx="1905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A2E"/>
                </a:solidFill>
                <a:latin typeface="Pretendard"/>
              </a:rPr>
              <a:t>정찬양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171" y="81331"/>
            <a:ext cx="353827" cy="1929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날짜</a:t>
            </a:r>
          </a:p>
        </p:txBody>
      </p:sp>
      <p:sp>
        <p:nvSpPr>
          <p:cNvPr id="6" name="입력: 날짜"/>
          <p:cNvSpPr/>
          <p:nvPr/>
        </p:nvSpPr>
        <p:spPr>
          <a:xfrm>
            <a:off x="10795000" y="0"/>
            <a:ext cx="1397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A2E"/>
                </a:solidFill>
                <a:latin typeface="Pretendard"/>
              </a:rPr>
              <a:t>2026-10-29</a:t>
            </a:r>
          </a:p>
        </p:txBody>
      </p:sp>
      <p:sp>
        <p:nvSpPr>
          <p:cNvPr id="101" name="seed: 공고 수집"/>
          <p:cNvSpPr/>
          <p:nvPr/>
        </p:nvSpPr>
        <p:spPr>
          <a:xfrm>
            <a:off x="2560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공고 수집</a:t>
            </a:r>
          </a:p>
        </p:txBody>
      </p:sp>
      <p:sp>
        <p:nvSpPr>
          <p:cNvPr id="102" name="how: 고용장려금·정책자금·소상공인 지원까지 넓히기"/>
          <p:cNvSpPr/>
          <p:nvPr/>
        </p:nvSpPr>
        <p:spPr>
          <a:xfrm>
            <a:off x="256032" y="4178808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고용장려금·정책자금·소상공인 지원까지 넓히기</a:t>
            </a:r>
          </a:p>
        </p:txBody>
      </p:sp>
      <p:cxnSp>
        <p:nvCxnSpPr>
          <p:cNvPr id="103" name="화살표"/>
          <p:cNvCxnSpPr>
            <a:cxnSpLocks/>
          </p:cNvCxnSpPr>
          <p:nvPr/>
        </p:nvCxnSpPr>
        <p:spPr>
          <a:xfrm flipV="1">
            <a:off x="365760" y="4041648"/>
            <a:ext cx="0" cy="1371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seed: 신청 가능 공고 안내"/>
          <p:cNvSpPr/>
          <p:nvPr/>
        </p:nvSpPr>
        <p:spPr>
          <a:xfrm>
            <a:off x="12339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신청 가능 공고 안내</a:t>
            </a:r>
          </a:p>
        </p:txBody>
      </p:sp>
      <p:sp>
        <p:nvSpPr>
          <p:cNvPr id="105" name="how: 공고를 AI가 읽고 '왜 되는지/안 되는지' 한 줄로"/>
          <p:cNvSpPr/>
          <p:nvPr/>
        </p:nvSpPr>
        <p:spPr>
          <a:xfrm>
            <a:off x="1233932" y="4178808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공고를 AI가 읽고 '왜 되는지/안 되는지' 한 줄로</a:t>
            </a:r>
          </a:p>
        </p:txBody>
      </p:sp>
      <p:cxnSp>
        <p:nvCxnSpPr>
          <p:cNvPr id="106" name="화살표"/>
          <p:cNvCxnSpPr>
            <a:cxnSpLocks/>
          </p:cNvCxnSpPr>
          <p:nvPr/>
        </p:nvCxnSpPr>
        <p:spPr>
          <a:xfrm flipV="1">
            <a:off x="1343660" y="4041648"/>
            <a:ext cx="0" cy="1371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how: 비슷한 가게가 받은 지원금 보여주기"/>
          <p:cNvSpPr/>
          <p:nvPr/>
        </p:nvSpPr>
        <p:spPr>
          <a:xfrm>
            <a:off x="1233932" y="4663440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비슷한 가게가 받은 지원금 보여주기</a:t>
            </a:r>
          </a:p>
        </p:txBody>
      </p:sp>
      <p:cxnSp>
        <p:nvCxnSpPr>
          <p:cNvPr id="108" name="화살표"/>
          <p:cNvCxnSpPr>
            <a:cxnSpLocks/>
          </p:cNvCxnSpPr>
          <p:nvPr/>
        </p:nvCxnSpPr>
        <p:spPr>
          <a:xfrm flipV="1">
            <a:off x="1343660" y="4599432"/>
            <a:ext cx="0" cy="64008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seed: 사업장 정보 입력"/>
          <p:cNvSpPr/>
          <p:nvPr/>
        </p:nvSpPr>
        <p:spPr>
          <a:xfrm>
            <a:off x="22118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사업장 정보 입력</a:t>
            </a:r>
          </a:p>
        </p:txBody>
      </p:sp>
      <p:sp>
        <p:nvSpPr>
          <p:cNvPr id="110" name="how: 사업자등록증 사진 한 장으로 끝내기"/>
          <p:cNvSpPr/>
          <p:nvPr/>
        </p:nvSpPr>
        <p:spPr>
          <a:xfrm>
            <a:off x="2211832" y="4178808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사업자등록증 사진 한 장으로 끝내기</a:t>
            </a:r>
          </a:p>
        </p:txBody>
      </p:sp>
      <p:cxnSp>
        <p:nvCxnSpPr>
          <p:cNvPr id="111" name="화살표"/>
          <p:cNvCxnSpPr>
            <a:cxnSpLocks/>
          </p:cNvCxnSpPr>
          <p:nvPr/>
        </p:nvCxnSpPr>
        <p:spPr>
          <a:xfrm flipV="1">
            <a:off x="2321560" y="4041648"/>
            <a:ext cx="0" cy="1371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how: 가게 링크 하나로 사업 설명 자동 생성"/>
          <p:cNvSpPr/>
          <p:nvPr/>
        </p:nvSpPr>
        <p:spPr>
          <a:xfrm>
            <a:off x="2211832" y="4663440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가게 링크 하나로 사업 설명 자동 생성</a:t>
            </a:r>
          </a:p>
        </p:txBody>
      </p:sp>
      <p:cxnSp>
        <p:nvCxnSpPr>
          <p:cNvPr id="113" name="화살표"/>
          <p:cNvCxnSpPr>
            <a:cxnSpLocks/>
          </p:cNvCxnSpPr>
          <p:nvPr/>
        </p:nvCxnSpPr>
        <p:spPr>
          <a:xfrm flipV="1">
            <a:off x="2321560" y="4599432"/>
            <a:ext cx="0" cy="64008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how: 세무 자료로 자동 채우기"/>
          <p:cNvSpPr/>
          <p:nvPr/>
        </p:nvSpPr>
        <p:spPr>
          <a:xfrm>
            <a:off x="2211832" y="5148072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세무 자료로 자동 채우기</a:t>
            </a:r>
          </a:p>
        </p:txBody>
      </p:sp>
      <p:cxnSp>
        <p:nvCxnSpPr>
          <p:cNvPr id="115" name="화살표"/>
          <p:cNvCxnSpPr>
            <a:cxnSpLocks/>
          </p:cNvCxnSpPr>
          <p:nvPr/>
        </p:nvCxnSpPr>
        <p:spPr>
          <a:xfrm flipV="1">
            <a:off x="2321560" y="5084064"/>
            <a:ext cx="0" cy="64008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how: 사업장에 변화가 생기면 AI가 먼저 알려주기"/>
          <p:cNvSpPr/>
          <p:nvPr/>
        </p:nvSpPr>
        <p:spPr>
          <a:xfrm>
            <a:off x="31897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사업장에 변화가 생기면 AI가 먼저 알려주기</a:t>
            </a:r>
          </a:p>
        </p:txBody>
      </p:sp>
      <p:sp>
        <p:nvSpPr>
          <p:cNvPr id="117" name="why: 내가 신청 가능한 공고 알기"/>
          <p:cNvSpPr/>
          <p:nvPr/>
        </p:nvSpPr>
        <p:spPr>
          <a:xfrm>
            <a:off x="995680" y="260604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내가 신청 가능한 공고 알기</a:t>
            </a:r>
          </a:p>
        </p:txBody>
      </p:sp>
      <p:cxnSp>
        <p:nvCxnSpPr>
          <p:cNvPr id="118" name="화살표"/>
          <p:cNvCxnSpPr>
            <a:cxnSpLocks/>
          </p:cNvCxnSpPr>
          <p:nvPr/>
        </p:nvCxnSpPr>
        <p:spPr>
          <a:xfrm flipV="1">
            <a:off x="717550" y="3172968"/>
            <a:ext cx="146685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화살표"/>
          <p:cNvCxnSpPr>
            <a:cxnSpLocks/>
          </p:cNvCxnSpPr>
          <p:nvPr/>
        </p:nvCxnSpPr>
        <p:spPr>
          <a:xfrm flipV="1">
            <a:off x="1695450" y="3172968"/>
            <a:ext cx="48895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화살표"/>
          <p:cNvCxnSpPr>
            <a:cxnSpLocks/>
          </p:cNvCxnSpPr>
          <p:nvPr/>
        </p:nvCxnSpPr>
        <p:spPr>
          <a:xfrm flipH="1" flipV="1">
            <a:off x="2184400" y="3172968"/>
            <a:ext cx="48895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화살표"/>
          <p:cNvCxnSpPr>
            <a:cxnSpLocks/>
          </p:cNvCxnSpPr>
          <p:nvPr/>
        </p:nvCxnSpPr>
        <p:spPr>
          <a:xfrm flipH="1" flipV="1">
            <a:off x="2184400" y="3172968"/>
            <a:ext cx="146685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seed: 마감 알림"/>
          <p:cNvSpPr/>
          <p:nvPr/>
        </p:nvSpPr>
        <p:spPr>
          <a:xfrm>
            <a:off x="41676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마감 알림</a:t>
            </a:r>
          </a:p>
        </p:txBody>
      </p:sp>
      <p:sp>
        <p:nvSpPr>
          <p:cNvPr id="123" name="how: 카톡으로 받기"/>
          <p:cNvSpPr/>
          <p:nvPr/>
        </p:nvSpPr>
        <p:spPr>
          <a:xfrm>
            <a:off x="4167632" y="4178808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카톡으로 받기</a:t>
            </a:r>
          </a:p>
        </p:txBody>
      </p:sp>
      <p:cxnSp>
        <p:nvCxnSpPr>
          <p:cNvPr id="124" name="화살표"/>
          <p:cNvCxnSpPr>
            <a:cxnSpLocks/>
          </p:cNvCxnSpPr>
          <p:nvPr/>
        </p:nvCxnSpPr>
        <p:spPr>
          <a:xfrm flipV="1">
            <a:off x="4277360" y="4041648"/>
            <a:ext cx="0" cy="1371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how: 제출서류·일정 체크리스트"/>
          <p:cNvSpPr/>
          <p:nvPr/>
        </p:nvSpPr>
        <p:spPr>
          <a:xfrm>
            <a:off x="51455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제출서류·일정 체크리스트</a:t>
            </a:r>
          </a:p>
        </p:txBody>
      </p:sp>
      <p:sp>
        <p:nvSpPr>
          <p:cNvPr id="126" name="how: AI 에이전트가 포털에 대신 제출"/>
          <p:cNvSpPr/>
          <p:nvPr/>
        </p:nvSpPr>
        <p:spPr>
          <a:xfrm>
            <a:off x="61234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AI 에이전트가 포털에 대신 제출</a:t>
            </a:r>
          </a:p>
        </p:txBody>
      </p:sp>
      <p:sp>
        <p:nvSpPr>
          <p:cNvPr id="127" name="why: 마감 전에 내기"/>
          <p:cNvSpPr/>
          <p:nvPr/>
        </p:nvSpPr>
        <p:spPr>
          <a:xfrm>
            <a:off x="4418330" y="260604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마감 전에 내기</a:t>
            </a:r>
          </a:p>
        </p:txBody>
      </p:sp>
      <p:cxnSp>
        <p:nvCxnSpPr>
          <p:cNvPr id="128" name="화살표"/>
          <p:cNvCxnSpPr>
            <a:cxnSpLocks/>
          </p:cNvCxnSpPr>
          <p:nvPr/>
        </p:nvCxnSpPr>
        <p:spPr>
          <a:xfrm flipV="1">
            <a:off x="4629150" y="3172968"/>
            <a:ext cx="97790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화살표"/>
          <p:cNvCxnSpPr>
            <a:cxnSpLocks/>
          </p:cNvCxnSpPr>
          <p:nvPr/>
        </p:nvCxnSpPr>
        <p:spPr>
          <a:xfrm flipV="1">
            <a:off x="5607050" y="3172968"/>
            <a:ext cx="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화살표"/>
          <p:cNvCxnSpPr>
            <a:cxnSpLocks/>
          </p:cNvCxnSpPr>
          <p:nvPr/>
        </p:nvCxnSpPr>
        <p:spPr>
          <a:xfrm flipH="1" flipV="1">
            <a:off x="5607050" y="3172968"/>
            <a:ext cx="97790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why: 받을 수 있는 지원금 놓치지 않기"/>
          <p:cNvSpPr/>
          <p:nvPr/>
        </p:nvSpPr>
        <p:spPr>
          <a:xfrm>
            <a:off x="2707005" y="173736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1F2A2E"/>
                </a:solidFill>
                <a:latin typeface="Pretendard"/>
              </a:rPr>
              <a:t>받을 수 있는 지원금 놓치지 않기</a:t>
            </a:r>
          </a:p>
        </p:txBody>
      </p:sp>
      <p:cxnSp>
        <p:nvCxnSpPr>
          <p:cNvPr id="132" name="화살표"/>
          <p:cNvCxnSpPr>
            <a:cxnSpLocks/>
          </p:cNvCxnSpPr>
          <p:nvPr/>
        </p:nvCxnSpPr>
        <p:spPr>
          <a:xfrm flipV="1">
            <a:off x="2184400" y="2304288"/>
            <a:ext cx="1711325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화살표"/>
          <p:cNvCxnSpPr>
            <a:cxnSpLocks/>
          </p:cNvCxnSpPr>
          <p:nvPr/>
        </p:nvCxnSpPr>
        <p:spPr>
          <a:xfrm flipH="1" flipV="1">
            <a:off x="3895725" y="2304288"/>
            <a:ext cx="1711325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seed: 사업계획서 초안"/>
          <p:cNvSpPr/>
          <p:nvPr/>
        </p:nvSpPr>
        <p:spPr>
          <a:xfrm>
            <a:off x="71013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사업계획서 초안</a:t>
            </a:r>
          </a:p>
        </p:txBody>
      </p:sp>
      <p:sp>
        <p:nvSpPr>
          <p:cNvPr id="135" name="how: AI와 10분 대화로 사업 이야기 끌어내기"/>
          <p:cNvSpPr/>
          <p:nvPr/>
        </p:nvSpPr>
        <p:spPr>
          <a:xfrm>
            <a:off x="7101332" y="4178808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AI와 10분 대화로 사업 이야기 끌어내기</a:t>
            </a:r>
          </a:p>
        </p:txBody>
      </p:sp>
      <p:cxnSp>
        <p:nvCxnSpPr>
          <p:cNvPr id="136" name="화살표"/>
          <p:cNvCxnSpPr>
            <a:cxnSpLocks/>
          </p:cNvCxnSpPr>
          <p:nvPr/>
        </p:nvCxnSpPr>
        <p:spPr>
          <a:xfrm flipV="1">
            <a:off x="7211060" y="4041648"/>
            <a:ext cx="0" cy="13716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how: AI 심사위원이 먼저 채점"/>
          <p:cNvSpPr/>
          <p:nvPr/>
        </p:nvSpPr>
        <p:spPr>
          <a:xfrm>
            <a:off x="7101332" y="4663440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AI 심사위원이 먼저 채점</a:t>
            </a:r>
          </a:p>
        </p:txBody>
      </p:sp>
      <p:cxnSp>
        <p:nvCxnSpPr>
          <p:cNvPr id="138" name="화살표"/>
          <p:cNvCxnSpPr>
            <a:cxnSpLocks/>
          </p:cNvCxnSpPr>
          <p:nvPr/>
        </p:nvCxnSpPr>
        <p:spPr>
          <a:xfrm flipV="1">
            <a:off x="7211060" y="4599432"/>
            <a:ext cx="0" cy="64008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how: 재무 숫자는 신고 자료에서 바로 넣기"/>
          <p:cNvSpPr/>
          <p:nvPr/>
        </p:nvSpPr>
        <p:spPr>
          <a:xfrm>
            <a:off x="7101332" y="5148072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재무 숫자는 신고 자료에서 바로 넣기</a:t>
            </a:r>
          </a:p>
        </p:txBody>
      </p:sp>
      <p:cxnSp>
        <p:nvCxnSpPr>
          <p:cNvPr id="140" name="화살표"/>
          <p:cNvCxnSpPr>
            <a:cxnSpLocks/>
          </p:cNvCxnSpPr>
          <p:nvPr/>
        </p:nvCxnSpPr>
        <p:spPr>
          <a:xfrm flipV="1">
            <a:off x="7211060" y="5084064"/>
            <a:ext cx="0" cy="64008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how: 한 번 쓴 내용 다음 공고에 재사용"/>
          <p:cNvSpPr/>
          <p:nvPr/>
        </p:nvSpPr>
        <p:spPr>
          <a:xfrm>
            <a:off x="7101332" y="5632704"/>
            <a:ext cx="9230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한 번 쓴 내용 다음 공고에 재사용</a:t>
            </a:r>
          </a:p>
        </p:txBody>
      </p:sp>
      <p:cxnSp>
        <p:nvCxnSpPr>
          <p:cNvPr id="142" name="화살표"/>
          <p:cNvCxnSpPr>
            <a:cxnSpLocks/>
          </p:cNvCxnSpPr>
          <p:nvPr/>
        </p:nvCxnSpPr>
        <p:spPr>
          <a:xfrm flipV="1">
            <a:off x="7211060" y="5568696"/>
            <a:ext cx="0" cy="64008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why: 사업계획서 쓸 시간 줄이기"/>
          <p:cNvSpPr/>
          <p:nvPr/>
        </p:nvSpPr>
        <p:spPr>
          <a:xfrm>
            <a:off x="7101332" y="260604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사업계획서 쓸 시간 줄이기</a:t>
            </a:r>
          </a:p>
        </p:txBody>
      </p:sp>
      <p:cxnSp>
        <p:nvCxnSpPr>
          <p:cNvPr id="144" name="화살표"/>
          <p:cNvCxnSpPr>
            <a:cxnSpLocks/>
          </p:cNvCxnSpPr>
          <p:nvPr/>
        </p:nvCxnSpPr>
        <p:spPr>
          <a:xfrm flipV="1">
            <a:off x="7562850" y="3172968"/>
            <a:ext cx="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how: 발표 예상 질문·모의 발표 코칭"/>
          <p:cNvSpPr/>
          <p:nvPr/>
        </p:nvSpPr>
        <p:spPr>
          <a:xfrm>
            <a:off x="80792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발표 예상 질문·모의 발표 코칭</a:t>
            </a:r>
          </a:p>
        </p:txBody>
      </p:sp>
      <p:sp>
        <p:nvSpPr>
          <p:cNvPr id="146" name="how: 보완 요청 오면 AI가 고치기"/>
          <p:cNvSpPr/>
          <p:nvPr/>
        </p:nvSpPr>
        <p:spPr>
          <a:xfrm>
            <a:off x="9057132" y="347472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보완 요청 오면 AI가 고치기</a:t>
            </a:r>
          </a:p>
        </p:txBody>
      </p:sp>
      <p:sp>
        <p:nvSpPr>
          <p:cNvPr id="147" name="why: 발표·보완에서 포기하지 않기"/>
          <p:cNvSpPr/>
          <p:nvPr/>
        </p:nvSpPr>
        <p:spPr>
          <a:xfrm>
            <a:off x="8079232" y="2606040"/>
            <a:ext cx="19009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발표·보완에서 포기하지 않기</a:t>
            </a:r>
          </a:p>
        </p:txBody>
      </p:sp>
      <p:cxnSp>
        <p:nvCxnSpPr>
          <p:cNvPr id="148" name="화살표"/>
          <p:cNvCxnSpPr>
            <a:cxnSpLocks/>
          </p:cNvCxnSpPr>
          <p:nvPr/>
        </p:nvCxnSpPr>
        <p:spPr>
          <a:xfrm flipV="1">
            <a:off x="8540750" y="3172968"/>
            <a:ext cx="48895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화살표"/>
          <p:cNvCxnSpPr>
            <a:cxnSpLocks/>
          </p:cNvCxnSpPr>
          <p:nvPr/>
        </p:nvCxnSpPr>
        <p:spPr>
          <a:xfrm flipH="1" flipV="1">
            <a:off x="9029700" y="3172968"/>
            <a:ext cx="488950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why: 대행비 없이 혼자 신청 끝내기"/>
          <p:cNvSpPr/>
          <p:nvPr/>
        </p:nvSpPr>
        <p:spPr>
          <a:xfrm>
            <a:off x="7107555" y="173736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1F2A2E"/>
                </a:solidFill>
                <a:latin typeface="Pretendard"/>
              </a:rPr>
              <a:t>대행비 없이 혼자 신청 끝내기</a:t>
            </a:r>
          </a:p>
        </p:txBody>
      </p:sp>
      <p:cxnSp>
        <p:nvCxnSpPr>
          <p:cNvPr id="151" name="화살표"/>
          <p:cNvCxnSpPr>
            <a:cxnSpLocks/>
          </p:cNvCxnSpPr>
          <p:nvPr/>
        </p:nvCxnSpPr>
        <p:spPr>
          <a:xfrm flipV="1">
            <a:off x="7562850" y="2304288"/>
            <a:ext cx="733425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화살표"/>
          <p:cNvCxnSpPr>
            <a:cxnSpLocks/>
          </p:cNvCxnSpPr>
          <p:nvPr/>
        </p:nvCxnSpPr>
        <p:spPr>
          <a:xfrm flipH="1" flipV="1">
            <a:off x="8296275" y="2304288"/>
            <a:ext cx="733425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how: 선정 후 영수증 사진으로 정산·결과보고 자동화"/>
          <p:cNvSpPr/>
          <p:nvPr/>
        </p:nvSpPr>
        <p:spPr>
          <a:xfrm>
            <a:off x="10035032" y="173736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선정 후 영수증 사진으로 정산·결과보고 자동화</a:t>
            </a:r>
          </a:p>
        </p:txBody>
      </p:sp>
      <p:sp>
        <p:nvSpPr>
          <p:cNvPr id="154" name="how: 탈락 이유 분석하고 다음 공고 재도전"/>
          <p:cNvSpPr/>
          <p:nvPr/>
        </p:nvSpPr>
        <p:spPr>
          <a:xfrm>
            <a:off x="11012932" y="1737360"/>
            <a:ext cx="9230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1F2A2E"/>
                </a:solidFill>
                <a:latin typeface="Pretendard"/>
              </a:rPr>
              <a:t>✦ 탈락 이유 분석하고 다음 공고 재도전</a:t>
            </a:r>
          </a:p>
        </p:txBody>
      </p:sp>
      <p:sp>
        <p:nvSpPr>
          <p:cNvPr id="155" name="why: 영세사업장이 버티고 클 자금 얻기"/>
          <p:cNvSpPr/>
          <p:nvPr/>
        </p:nvSpPr>
        <p:spPr>
          <a:xfrm>
            <a:off x="6496367" y="86868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1F2A2E"/>
                </a:solidFill>
                <a:latin typeface="Pretendard"/>
              </a:rPr>
              <a:t>영세사업장이 버티고 클 자금 얻기</a:t>
            </a:r>
          </a:p>
        </p:txBody>
      </p:sp>
      <p:cxnSp>
        <p:nvCxnSpPr>
          <p:cNvPr id="156" name="화살표"/>
          <p:cNvCxnSpPr>
            <a:cxnSpLocks/>
          </p:cNvCxnSpPr>
          <p:nvPr/>
        </p:nvCxnSpPr>
        <p:spPr>
          <a:xfrm flipV="1">
            <a:off x="3895725" y="1435608"/>
            <a:ext cx="3789362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화살표"/>
          <p:cNvCxnSpPr>
            <a:cxnSpLocks/>
          </p:cNvCxnSpPr>
          <p:nvPr/>
        </p:nvCxnSpPr>
        <p:spPr>
          <a:xfrm flipH="1" flipV="1">
            <a:off x="7685087" y="1435608"/>
            <a:ext cx="611187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화살표"/>
          <p:cNvCxnSpPr>
            <a:cxnSpLocks/>
          </p:cNvCxnSpPr>
          <p:nvPr/>
        </p:nvCxnSpPr>
        <p:spPr>
          <a:xfrm flipH="1" flipV="1">
            <a:off x="7685087" y="1435608"/>
            <a:ext cx="2811462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화살표"/>
          <p:cNvCxnSpPr>
            <a:cxnSpLocks/>
          </p:cNvCxnSpPr>
          <p:nvPr/>
        </p:nvCxnSpPr>
        <p:spPr>
          <a:xfrm flipH="1" flipV="1">
            <a:off x="7685087" y="1435608"/>
            <a:ext cx="3789362" cy="301752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화살표 (점선: 부가적인 why)"/>
          <p:cNvCxnSpPr/>
          <p:nvPr/>
        </p:nvCxnSpPr>
        <p:spPr>
          <a:xfrm>
            <a:off x="2673350" y="5568696"/>
            <a:ext cx="0" cy="576072"/>
          </a:xfrm>
          <a:prstGeom prst="line">
            <a:avLst/>
          </a:prstGeom>
          <a:ln w="22225">
            <a:solidFill>
              <a:srgbClr val="7FA08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화살표 (점선: 부가적인 why)"/>
          <p:cNvCxnSpPr/>
          <p:nvPr/>
        </p:nvCxnSpPr>
        <p:spPr>
          <a:xfrm>
            <a:off x="2673350" y="6144768"/>
            <a:ext cx="4400550" cy="0"/>
          </a:xfrm>
          <a:prstGeom prst="line">
            <a:avLst/>
          </a:prstGeom>
          <a:ln w="22225">
            <a:solidFill>
              <a:srgbClr val="7FA08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화살표 (점선: 부가적인 why)"/>
          <p:cNvCxnSpPr/>
          <p:nvPr/>
        </p:nvCxnSpPr>
        <p:spPr>
          <a:xfrm flipV="1">
            <a:off x="7073900" y="3172968"/>
            <a:ext cx="0" cy="297180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seed: 지금 하는 일 (씨앗)"/>
          <p:cNvSpPr/>
          <p:nvPr/>
        </p:nvSpPr>
        <p:spPr>
          <a:xfrm>
            <a:off x="274320" y="6291072"/>
            <a:ext cx="1371600" cy="310896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1F2A2E"/>
                </a:solidFill>
                <a:latin typeface="Pretendard"/>
              </a:rPr>
              <a:t>지금 하는 일 (씨앗)</a:t>
            </a:r>
          </a:p>
        </p:txBody>
      </p:sp>
      <p:sp>
        <p:nvSpPr>
          <p:cNvPr id="164" name="why: why (목적)"/>
          <p:cNvSpPr/>
          <p:nvPr/>
        </p:nvSpPr>
        <p:spPr>
          <a:xfrm>
            <a:off x="1737360" y="6291072"/>
            <a:ext cx="100584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1F2A2E"/>
                </a:solidFill>
                <a:latin typeface="Pretendard"/>
              </a:rPr>
              <a:t>why (목적)</a:t>
            </a:r>
          </a:p>
        </p:txBody>
      </p:sp>
      <p:sp>
        <p:nvSpPr>
          <p:cNvPr id="165" name="how: 새로 찾은 방법 (아직 안 함)"/>
          <p:cNvSpPr/>
          <p:nvPr/>
        </p:nvSpPr>
        <p:spPr>
          <a:xfrm>
            <a:off x="2834640" y="6291072"/>
            <a:ext cx="1737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1F2A2E"/>
                </a:solidFill>
                <a:latin typeface="Pretendard"/>
              </a:rPr>
              <a:t>새로 찾은 방법 (아직 안 함)</a:t>
            </a:r>
          </a:p>
        </p:txBody>
      </p:sp>
      <p:sp>
        <p:nvSpPr>
          <p:cNvPr id="999" name="TextBox 29"/>
          <p:cNvSpPr txBox="1"/>
          <p:nvPr/>
        </p:nvSpPr>
        <p:spPr>
          <a:xfrm>
            <a:off x="4709160" y="6291072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568"/>
                </a:solidFill>
                <a:latin typeface="Pretendard"/>
              </a:rPr>
              <a:t>✦ = SeedUp(seedup.co.kr)에 없는 방법.  점선 화살표 = 부가적인 why (세무 자료 자동 채우기는 사업계획서 시간 줄이기에도 쓰인다).  Why Up: 지금 하는 일 5개 → 목적.  How Down: AI를 아는 눈으로 다른 방법.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211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Pretendard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 Soo Yi</cp:lastModifiedBy>
  <cp:revision>4</cp:revision>
  <dcterms:created xsi:type="dcterms:W3CDTF">2013-01-27T09:14:16Z</dcterms:created>
  <dcterms:modified xsi:type="dcterms:W3CDTF">2026-10-16T23:12:43Z</dcterms:modified>
  <cp:category/>
</cp:coreProperties>
</file>